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9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1F1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VELLIA SOLAR PRIVATE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646920" y="649224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150" kern="0" dirty="0">
                <a:solidFill>
                  <a:srgbClr val="8D8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VEELUEN SOLUTIONS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920240"/>
            <a:ext cx="6035040" cy="6035040"/>
          </a:xfrm>
          <a:prstGeom prst="ellipse">
            <a:avLst/>
          </a:prstGeom>
          <a:solidFill>
            <a:srgbClr val="532E1D">
              <a:alpha val="42000"/>
            </a:srgbClr>
          </a:solidFill>
          <a:ln w="12700">
            <a:solidFill>
              <a:srgbClr val="532E1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0467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8B46"/>
                </a:solidFill>
              </a:rPr>
              <a:t>PROPOSTA COMERCIAL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7F7F5"/>
                </a:solidFill>
              </a:rPr>
              <a:t>Vellia Solar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7F7F5"/>
                </a:solidFill>
              </a:rPr>
              <a:t>Private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58368" y="2779776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AB66"/>
                </a:solidFill>
              </a:rPr>
              <a:t>Seu sistema. Sua marca.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2AB66"/>
                </a:solidFill>
              </a:rPr>
              <a:t>Sem mensalidade de licença.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72160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7B8BC"/>
                </a:solidFill>
              </a:rPr>
              <a:t>WebApp comercial proprietário para integradores de energia solar, com CRM, gestão de leads, propostas, follow-up, equipe e operação.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58368" y="4892040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C98B46"/>
          </a:solidFill>
          <a:ln w="8890">
            <a:solidFill>
              <a:srgbClr val="C98B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96976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50608"/>
                </a:solidFill>
              </a:rPr>
              <a:t>PAGAMENTO ÚNICO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2267712" y="48920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B1F26"/>
          </a:solidFill>
          <a:ln w="8890">
            <a:solidFill>
              <a:srgbClr val="3034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40864" y="4969764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7B8BC"/>
                </a:solidFill>
              </a:rPr>
              <a:t>SISTEMA PRÓPRIO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3813048" y="4892040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1B1F26"/>
          </a:solidFill>
          <a:ln w="8890">
            <a:solidFill>
              <a:srgbClr val="3034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496976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7B8BC"/>
                </a:solidFill>
              </a:rPr>
              <a:t>SITE INCLUSO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658368" y="55046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F7F5"/>
                </a:solidFill>
              </a:rPr>
              <a:t>Uma estrutura digital feita para vender, organizar e crescer.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97880" y="658368"/>
            <a:ext cx="5715000" cy="5413248"/>
          </a:xfrm>
          <a:prstGeom prst="roundRect">
            <a:avLst>
              <a:gd name="adj" fmla="val 2027"/>
            </a:avLst>
          </a:prstGeom>
          <a:solidFill>
            <a:srgbClr val="101218"/>
          </a:solidFill>
          <a:ln w="10160">
            <a:solidFill>
              <a:srgbClr val="2A2D3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15" name="Image 0" descr="/mnt/data/dashboard_solar_premium_em_destaque.png">    </p:cNvPr>
          <p:cNvPicPr>
            <a:picLocks noChangeAspect="1"/>
          </p:cNvPicPr>
          <p:nvPr/>
        </p:nvPicPr>
        <p:blipFill>
          <a:blip r:embed="rId1"/>
          <a:srcRect l="0" r="-56246" t="8000" b="9000"/>
          <a:stretch/>
        </p:blipFill>
        <p:spPr>
          <a:xfrm>
            <a:off x="6071616" y="832104"/>
            <a:ext cx="5376672" cy="5074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549640" y="5010912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090A0D">
              <a:alpha val="92000"/>
            </a:srgbClr>
          </a:solidFill>
          <a:ln w="8890">
            <a:solidFill>
              <a:srgbClr val="C98B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32520" y="523036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100" kern="0" dirty="0">
                <a:solidFill>
                  <a:srgbClr val="E2AB66"/>
                </a:solidFill>
              </a:rPr>
              <a:t>CRM + LEADS + VENDAS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C98B46"/>
                </a:solidFill>
              </a:rPr>
              <a:t>O CENÁRIO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O problema não é só gerar leads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8191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8BC"/>
                </a:solidFill>
              </a:rPr>
              <a:t>A perda acontece quando o processo comercial não acompanha o investimento em mídia.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212140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7F5"/>
                </a:solidFill>
              </a:rPr>
              <a:t>LEAD SOLAR É CARO DEMAIS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7F7F5"/>
                </a:solidFill>
              </a:rPr>
              <a:t>PARA SER ESQUECIDO.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321868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AB66"/>
                </a:solidFill>
              </a:rPr>
              <a:t>Centralize a operação antes de aumentar o orçamento de tráfego.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74920" y="2148840"/>
            <a:ext cx="2788920" cy="1353312"/>
          </a:xfrm>
          <a:prstGeom prst="roundRect">
            <a:avLst>
              <a:gd name="adj" fmla="val 5405"/>
            </a:avLst>
          </a:prstGeom>
          <a:solidFill>
            <a:srgbClr val="15181E"/>
          </a:solidFill>
          <a:ln w="8890">
            <a:solidFill>
              <a:srgbClr val="292C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76088" y="2350008"/>
            <a:ext cx="384048" cy="384048"/>
          </a:xfrm>
          <a:prstGeom prst="ellipse">
            <a:avLst/>
          </a:prstGeom>
          <a:solidFill>
            <a:srgbClr val="B57B43"/>
          </a:solidFill>
          <a:ln w="12700">
            <a:solidFill>
              <a:srgbClr val="B57B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76088" y="2450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0608"/>
                </a:solidFill>
              </a:rPr>
              <a:t>01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788152" y="235000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7F7F5"/>
                </a:solidFill>
              </a:rPr>
              <a:t>Lead perdido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5788152" y="2679192"/>
            <a:ext cx="18562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7B8BC"/>
                </a:solidFill>
              </a:rPr>
              <a:t>O contato chega pelo WhatsApp e fica sem retorno ou acompanhamento.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275320" y="2148840"/>
            <a:ext cx="2788920" cy="1353312"/>
          </a:xfrm>
          <a:prstGeom prst="roundRect">
            <a:avLst>
              <a:gd name="adj" fmla="val 5405"/>
            </a:avLst>
          </a:prstGeom>
          <a:solidFill>
            <a:srgbClr val="15181E"/>
          </a:solidFill>
          <a:ln w="8890">
            <a:solidFill>
              <a:srgbClr val="292C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76488" y="2350008"/>
            <a:ext cx="384048" cy="384048"/>
          </a:xfrm>
          <a:prstGeom prst="ellipse">
            <a:avLst/>
          </a:prstGeom>
          <a:solidFill>
            <a:srgbClr val="B57B43"/>
          </a:solidFill>
          <a:ln w="12700">
            <a:solidFill>
              <a:srgbClr val="B57B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2450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0608"/>
                </a:solidFill>
              </a:rPr>
              <a:t>02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988552" y="235000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7F7F5"/>
                </a:solidFill>
              </a:rPr>
              <a:t>Follow-up falho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8988552" y="2679192"/>
            <a:ext cx="18562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7B8BC"/>
                </a:solidFill>
              </a:rPr>
              <a:t>O vendedor não sabe quando retomar a conversa e a oportunidade esfria.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074920" y="3886200"/>
            <a:ext cx="2788920" cy="1353312"/>
          </a:xfrm>
          <a:prstGeom prst="roundRect">
            <a:avLst>
              <a:gd name="adj" fmla="val 5405"/>
            </a:avLst>
          </a:prstGeom>
          <a:solidFill>
            <a:srgbClr val="15181E"/>
          </a:solidFill>
          <a:ln w="8890">
            <a:solidFill>
              <a:srgbClr val="292C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4087368"/>
            <a:ext cx="384048" cy="384048"/>
          </a:xfrm>
          <a:prstGeom prst="ellipse">
            <a:avLst/>
          </a:prstGeom>
          <a:solidFill>
            <a:srgbClr val="B57B43"/>
          </a:solidFill>
          <a:ln w="12700">
            <a:solidFill>
              <a:srgbClr val="B57B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418795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0608"/>
                </a:solidFill>
              </a:rPr>
              <a:t>03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788152" y="408736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7F7F5"/>
                </a:solidFill>
              </a:rPr>
              <a:t>Informação espalhada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788152" y="4416552"/>
            <a:ext cx="18562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7B8BC"/>
                </a:solidFill>
              </a:rPr>
              <a:t>Planilhas, conversas e anotações dificultam histórico e cobrança.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8275320" y="3886200"/>
            <a:ext cx="2788920" cy="1353312"/>
          </a:xfrm>
          <a:prstGeom prst="roundRect">
            <a:avLst>
              <a:gd name="adj" fmla="val 5405"/>
            </a:avLst>
          </a:prstGeom>
          <a:solidFill>
            <a:srgbClr val="15181E"/>
          </a:solidFill>
          <a:ln w="8890">
            <a:solidFill>
              <a:srgbClr val="292C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76488" y="4087368"/>
            <a:ext cx="384048" cy="384048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418795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0608"/>
                </a:solidFill>
              </a:rPr>
              <a:t>04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8988552" y="408736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7F7F5"/>
                </a:solidFill>
              </a:rPr>
              <a:t>Software alugado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8988552" y="4416552"/>
            <a:ext cx="18562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7B8BC"/>
                </a:solidFill>
              </a:rPr>
              <a:t>A empresa paga todos os meses e continua dependente de terceiros.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58368" y="480060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1B1F26"/>
          </a:solidFill>
          <a:ln w="8890">
            <a:solidFill>
              <a:srgbClr val="3336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50474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7B8BC"/>
                </a:solidFill>
              </a:rPr>
              <a:t>Vellia Solar Private transforma esse cenário em um processo centralizado, mensurável e proprietário.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6327648"/>
            <a:ext cx="8595360" cy="0"/>
          </a:xfrm>
          <a:prstGeom prst="line">
            <a:avLst/>
          </a:prstGeom>
          <a:noFill/>
          <a:ln w="10160">
            <a:solidFill>
              <a:srgbClr val="24272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C98B46"/>
                </a:solidFill>
              </a:rPr>
              <a:t>A SOLUÇÃO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Um sistema pensado para a rotina do integrador solar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8191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8BC"/>
                </a:solidFill>
              </a:rPr>
              <a:t>Sua marca na interface. Seus dados no centro. Seu processo comercial organizado.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6858000" cy="3950208"/>
          </a:xfrm>
          <a:prstGeom prst="roundRect">
            <a:avLst>
              <a:gd name="adj" fmla="val 1852"/>
            </a:avLst>
          </a:prstGeom>
          <a:solidFill>
            <a:srgbClr val="0E1116"/>
          </a:solidFill>
          <a:ln w="10160">
            <a:solidFill>
              <a:srgbClr val="2B2E3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mnt/data/a_sleek_modern_promotional_graphic_composite_scen.png">    </p:cNvPr>
          <p:cNvPicPr>
            <a:picLocks noChangeAspect="1"/>
          </p:cNvPicPr>
          <p:nvPr/>
        </p:nvPicPr>
        <p:blipFill>
          <a:blip r:embed="rId1"/>
          <a:srcRect l="18000" r="-46673" t="5000" b="23000"/>
          <a:stretch/>
        </p:blipFill>
        <p:spPr>
          <a:xfrm>
            <a:off x="749808" y="2176272"/>
            <a:ext cx="6601968" cy="36941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2203704"/>
            <a:ext cx="420624" cy="420624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232257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608"/>
                </a:solidFill>
              </a:rPr>
              <a:t>1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8485632" y="21762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7F5"/>
                </a:solidFill>
              </a:rPr>
              <a:t>Sua marca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85632" y="24871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7B8BC"/>
                </a:solidFill>
              </a:rPr>
              <a:t>Identidade da integradora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7909560" y="3099816"/>
            <a:ext cx="420624" cy="420624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321868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608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485632" y="30723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7F5"/>
                </a:solidFill>
              </a:rPr>
              <a:t>Seus dados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485632" y="3383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7B8BC"/>
                </a:solidFill>
              </a:rPr>
              <a:t>Base comercial própria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909560" y="3995928"/>
            <a:ext cx="420624" cy="420624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09560" y="411480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608"/>
                </a:solidFill>
              </a:rPr>
              <a:t>3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485632" y="39684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7F5"/>
                </a:solidFill>
              </a:rPr>
              <a:t>Seu processo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85632" y="42793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7B8BC"/>
                </a:solidFill>
              </a:rPr>
              <a:t>Funil adaptado à operação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7909560" y="4892040"/>
            <a:ext cx="420624" cy="420624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09560" y="501091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608"/>
                </a:solidFill>
              </a:rPr>
              <a:t>4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8485632" y="48646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7F5"/>
                </a:solidFill>
              </a:rPr>
              <a:t>Seu ativo digital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485632" y="51755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7B8BC"/>
                </a:solidFill>
              </a:rPr>
              <a:t>Tecnologia que fica com a empresa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7918704" y="5623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7B7D84"/>
                </a:solidFill>
              </a:rPr>
              <a:t>Interface ilustrativa. Campos, módulos e identidade podem ser personalizados no briefing.</a:t>
            </a:r>
            <a:endParaRPr lang="en-US" sz="760" dirty="0"/>
          </a:p>
        </p:txBody>
      </p:sp>
      <p:sp>
        <p:nvSpPr>
          <p:cNvPr id="24" name="Shape 21"/>
          <p:cNvSpPr/>
          <p:nvPr/>
        </p:nvSpPr>
        <p:spPr>
          <a:xfrm>
            <a:off x="594360" y="6327648"/>
            <a:ext cx="8595360" cy="0"/>
          </a:xfrm>
          <a:prstGeom prst="line">
            <a:avLst/>
          </a:prstGeom>
          <a:noFill/>
          <a:ln w="10160">
            <a:solidFill>
              <a:srgbClr val="24272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C98B46"/>
                </a:solidFill>
              </a:rPr>
              <a:t>FLUXO COMERCIAL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Do lead à instalação em um único caminho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8191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8BC"/>
                </a:solidFill>
              </a:rPr>
              <a:t>Menos dependência da memória do vendedor. Mais clareza sobre o próximo passo.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60120" y="3172968"/>
            <a:ext cx="9509760" cy="0"/>
          </a:xfrm>
          <a:prstGeom prst="line">
            <a:avLst/>
          </a:prstGeom>
          <a:noFill/>
          <a:ln w="25400">
            <a:solidFill>
              <a:srgbClr val="3A3D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770632"/>
            <a:ext cx="786384" cy="786384"/>
          </a:xfrm>
          <a:prstGeom prst="ellipse">
            <a:avLst/>
          </a:prstGeom>
          <a:solidFill>
            <a:srgbClr val="C98B46"/>
          </a:solidFill>
          <a:ln w="13970">
            <a:solidFill>
              <a:srgbClr val="C98B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03580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608"/>
                </a:solidFill>
              </a:rPr>
              <a:t>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56616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7F5"/>
                </a:solidFill>
              </a:rPr>
              <a:t>Lead entra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" y="4142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7B8BC"/>
                </a:solidFill>
              </a:rPr>
              <a:t>Meta Ads, Google, site ou indicação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569464" y="2770632"/>
            <a:ext cx="786384" cy="786384"/>
          </a:xfrm>
          <a:prstGeom prst="ellipse">
            <a:avLst/>
          </a:prstGeom>
          <a:solidFill>
            <a:srgbClr val="C98B46"/>
          </a:solidFill>
          <a:ln w="13970">
            <a:solidFill>
              <a:srgbClr val="C98B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9464" y="303580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608"/>
                </a:solidFill>
              </a:rPr>
              <a:t>02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240280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7F5"/>
                </a:solidFill>
              </a:rPr>
              <a:t>Qualificação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30552" y="4142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7B8BC"/>
                </a:solidFill>
              </a:rPr>
              <a:t>Conta de energia, perfil e interesse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4453128" y="2770632"/>
            <a:ext cx="786384" cy="786384"/>
          </a:xfrm>
          <a:prstGeom prst="ellipse">
            <a:avLst/>
          </a:prstGeom>
          <a:solidFill>
            <a:srgbClr val="C98B46"/>
          </a:solidFill>
          <a:ln w="13970">
            <a:solidFill>
              <a:srgbClr val="C98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303580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608"/>
                </a:solidFill>
              </a:rPr>
              <a:t>03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23944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7F5"/>
                </a:solidFill>
              </a:rPr>
              <a:t>Proposta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14216" y="4142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7B8BC"/>
                </a:solidFill>
              </a:rPr>
              <a:t>Registro e acompanhamento comercial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336792" y="2770632"/>
            <a:ext cx="786384" cy="786384"/>
          </a:xfrm>
          <a:prstGeom prst="ellipse">
            <a:avLst/>
          </a:prstGeom>
          <a:solidFill>
            <a:srgbClr val="C98B46"/>
          </a:solidFill>
          <a:ln w="13970">
            <a:solidFill>
              <a:srgbClr val="C98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303580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608"/>
                </a:solidFill>
              </a:rPr>
              <a:t>04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07608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7F5"/>
                </a:solidFill>
              </a:rPr>
              <a:t>Follow-up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4142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7B8BC"/>
                </a:solidFill>
              </a:rPr>
              <a:t>Agenda, lembretes e histórico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8220456" y="2770632"/>
            <a:ext cx="786384" cy="786384"/>
          </a:xfrm>
          <a:prstGeom prst="ellipse">
            <a:avLst/>
          </a:prstGeom>
          <a:solidFill>
            <a:srgbClr val="1B1F26"/>
          </a:solidFill>
          <a:ln w="13970">
            <a:solidFill>
              <a:srgbClr val="484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0456" y="303580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7F7F5"/>
                </a:solidFill>
              </a:rPr>
              <a:t>05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891272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7F5"/>
                </a:solidFill>
              </a:rPr>
              <a:t>Fechamento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81544" y="4142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7B8BC"/>
                </a:solidFill>
              </a:rPr>
              <a:t>Negociação, contrato e status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10104120" y="2770632"/>
            <a:ext cx="786384" cy="786384"/>
          </a:xfrm>
          <a:prstGeom prst="ellipse">
            <a:avLst/>
          </a:prstGeom>
          <a:solidFill>
            <a:srgbClr val="1B1F26"/>
          </a:solidFill>
          <a:ln w="13970">
            <a:solidFill>
              <a:srgbClr val="484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04120" y="303580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7F7F5"/>
                </a:solidFill>
              </a:rPr>
              <a:t>06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774936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7F5"/>
                </a:solidFill>
              </a:rPr>
              <a:t>Pós-venda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65208" y="4142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7B8BC"/>
                </a:solidFill>
              </a:rPr>
              <a:t>Instalação, suporte e novas oportunidades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1965960" y="5376672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5181E"/>
          </a:solidFill>
          <a:ln w="8890">
            <a:solidFill>
              <a:srgbClr val="2B2E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0" y="55595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2AB66"/>
                </a:solidFill>
              </a:rPr>
              <a:t>Adaptável para residencial, comercial, rural, construtoras, condomínios e parceiros B2B.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94360" y="6327648"/>
            <a:ext cx="8595360" cy="0"/>
          </a:xfrm>
          <a:prstGeom prst="line">
            <a:avLst/>
          </a:prstGeom>
          <a:noFill/>
          <a:ln w="10160">
            <a:solidFill>
              <a:srgbClr val="24272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C98B46"/>
                </a:solidFill>
              </a:rPr>
              <a:t>ARQUITETURA DO PRODUTO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Módulos essenciais, sem transformar o sistema em algo pesado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8191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8BC"/>
                </a:solidFill>
              </a:rPr>
              <a:t>A experiência deve ser simples para o vendedor e estratégica para a gestão.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487168" cy="1554480"/>
          </a:xfrm>
          <a:prstGeom prst="roundRect">
            <a:avLst>
              <a:gd name="adj" fmla="val 3529"/>
            </a:avLst>
          </a:prstGeom>
          <a:solidFill>
            <a:srgbClr val="15181E"/>
          </a:solidFill>
          <a:ln w="10160">
            <a:solidFill>
              <a:srgbClr val="2B2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500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98B46"/>
                </a:solidFill>
              </a:rPr>
              <a:t>01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22960" y="264261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7F5"/>
                </a:solidFill>
              </a:rPr>
              <a:t>CRM &amp; Leads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B7B8BC"/>
                </a:solidFill>
              </a:rPr>
              <a:t>Origem, responsável, status e histórico.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438144" y="2148840"/>
            <a:ext cx="2487168" cy="1554480"/>
          </a:xfrm>
          <a:prstGeom prst="roundRect">
            <a:avLst>
              <a:gd name="adj" fmla="val 3529"/>
            </a:avLst>
          </a:prstGeom>
          <a:solidFill>
            <a:srgbClr val="15181E"/>
          </a:solidFill>
          <a:ln w="10160">
            <a:solidFill>
              <a:srgbClr val="2B2E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23500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98B46"/>
                </a:solidFill>
              </a:rPr>
              <a:t>02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621024" y="264261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7F5"/>
                </a:solidFill>
              </a:rPr>
              <a:t>Pipeline Solar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21024" y="29718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B7B8BC"/>
                </a:solidFill>
              </a:rPr>
              <a:t>Etapas personalizadas até o fechamento.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6236208" y="2148840"/>
            <a:ext cx="2487168" cy="1554480"/>
          </a:xfrm>
          <a:prstGeom prst="roundRect">
            <a:avLst>
              <a:gd name="adj" fmla="val 3529"/>
            </a:avLst>
          </a:prstGeom>
          <a:solidFill>
            <a:srgbClr val="15181E"/>
          </a:solidFill>
          <a:ln w="10160">
            <a:solidFill>
              <a:srgbClr val="2B2E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3500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98B46"/>
                </a:solidFill>
              </a:rPr>
              <a:t>03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6419088" y="264261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7F5"/>
                </a:solidFill>
              </a:rPr>
              <a:t>Clientes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19088" y="29718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B7B8BC"/>
                </a:solidFill>
              </a:rPr>
              <a:t>Cadastro, documentos e relacionamento.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9034272" y="2148840"/>
            <a:ext cx="2487168" cy="1554480"/>
          </a:xfrm>
          <a:prstGeom prst="roundRect">
            <a:avLst>
              <a:gd name="adj" fmla="val 3529"/>
            </a:avLst>
          </a:prstGeom>
          <a:solidFill>
            <a:srgbClr val="15181E"/>
          </a:solidFill>
          <a:ln w="10160">
            <a:solidFill>
              <a:srgbClr val="2B2E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23500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98B46"/>
                </a:solidFill>
              </a:rPr>
              <a:t>04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9217152" y="264261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7F5"/>
                </a:solidFill>
              </a:rPr>
              <a:t>Propostas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217152" y="29718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B7B8BC"/>
                </a:solidFill>
              </a:rPr>
              <a:t>Valores, revisões e situação comercial.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2487168" cy="1554480"/>
          </a:xfrm>
          <a:prstGeom prst="roundRect">
            <a:avLst>
              <a:gd name="adj" fmla="val 3529"/>
            </a:avLst>
          </a:prstGeom>
          <a:solidFill>
            <a:srgbClr val="15181E"/>
          </a:solidFill>
          <a:ln w="10160">
            <a:solidFill>
              <a:srgbClr val="2B2E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24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98B46"/>
                </a:solidFill>
              </a:rPr>
              <a:t>05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822960" y="45171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7F5"/>
                </a:solidFill>
              </a:rPr>
              <a:t>Agenda &amp; Follow-up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84632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B7B8BC"/>
                </a:solidFill>
              </a:rPr>
              <a:t>Retornos, visitas e próximos passos.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3438144" y="4023360"/>
            <a:ext cx="2487168" cy="1554480"/>
          </a:xfrm>
          <a:prstGeom prst="roundRect">
            <a:avLst>
              <a:gd name="adj" fmla="val 3529"/>
            </a:avLst>
          </a:prstGeom>
          <a:solidFill>
            <a:srgbClr val="15181E"/>
          </a:solidFill>
          <a:ln w="10160">
            <a:solidFill>
              <a:srgbClr val="2B2E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4224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98B46"/>
                </a:solidFill>
              </a:rPr>
              <a:t>06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621024" y="45171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7F5"/>
                </a:solidFill>
              </a:rPr>
              <a:t>Equipe Comercial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21024" y="484632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B7B8BC"/>
                </a:solidFill>
              </a:rPr>
              <a:t>Distribuição de oportunidades e desempenho.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6236208" y="4023360"/>
            <a:ext cx="2487168" cy="1554480"/>
          </a:xfrm>
          <a:prstGeom prst="roundRect">
            <a:avLst>
              <a:gd name="adj" fmla="val 3529"/>
            </a:avLst>
          </a:prstGeom>
          <a:solidFill>
            <a:srgbClr val="15181E"/>
          </a:solidFill>
          <a:ln w="10160">
            <a:solidFill>
              <a:srgbClr val="2B2E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4224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98B46"/>
                </a:solidFill>
              </a:rPr>
              <a:t>07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6419088" y="45171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7F5"/>
                </a:solidFill>
              </a:rPr>
              <a:t>Dashboard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19088" y="484632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B7B8BC"/>
                </a:solidFill>
              </a:rPr>
              <a:t>Leads, propostas, vendas e conversão.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9034272" y="4023360"/>
            <a:ext cx="2487168" cy="1554480"/>
          </a:xfrm>
          <a:prstGeom prst="roundRect">
            <a:avLst>
              <a:gd name="adj" fmla="val 3529"/>
            </a:avLst>
          </a:prstGeom>
          <a:solidFill>
            <a:srgbClr val="15181E"/>
          </a:solidFill>
          <a:ln w="10160">
            <a:solidFill>
              <a:srgbClr val="2B2E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17152" y="4224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98B46"/>
                </a:solidFill>
              </a:rPr>
              <a:t>08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9217152" y="45171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7F5"/>
                </a:solidFill>
              </a:rPr>
              <a:t>Relatórios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217152" y="484632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B7B8BC"/>
                </a:solidFill>
              </a:rPr>
              <a:t>Perdas, produtividade e visão gerencial.</a:t>
            </a:r>
            <a:endParaRPr lang="en-US" sz="790" dirty="0"/>
          </a:p>
        </p:txBody>
      </p:sp>
      <p:sp>
        <p:nvSpPr>
          <p:cNvPr id="37" name="Text 35"/>
          <p:cNvSpPr/>
          <p:nvPr/>
        </p:nvSpPr>
        <p:spPr>
          <a:xfrm>
            <a:off x="658368" y="60167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7D84"/>
                </a:solidFill>
              </a:rPr>
              <a:t>Integrações com APIs e serviços externos dependem de disponibilidade técnica e contratação quando aplicável.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C98B46"/>
                </a:solidFill>
              </a:rPr>
              <a:t>O DIFERENCIAL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A grande diferença: o sistema é seu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8191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8BC"/>
                </a:solidFill>
              </a:rPr>
              <a:t>A proposta troca mensalidade de licença por um ativo digital com identidade própria.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22128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B8BC"/>
                </a:solidFill>
              </a:rPr>
              <a:t>SOFTWARE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B7B8BC"/>
                </a:solidFill>
              </a:rPr>
              <a:t>ALUGADO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13232" y="3182112"/>
            <a:ext cx="146304" cy="146304"/>
          </a:xfrm>
          <a:prstGeom prst="ellipse">
            <a:avLst/>
          </a:prstGeom>
          <a:solidFill>
            <a:srgbClr val="DC6A6A"/>
          </a:solidFill>
          <a:ln w="12700">
            <a:solidFill>
              <a:srgbClr val="DC6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108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B8BC"/>
                </a:solidFill>
              </a:rPr>
              <a:t>Mensalidade recorrente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13232" y="3639312"/>
            <a:ext cx="146304" cy="146304"/>
          </a:xfrm>
          <a:prstGeom prst="ellipse">
            <a:avLst/>
          </a:prstGeom>
          <a:solidFill>
            <a:srgbClr val="DC6A6A"/>
          </a:solidFill>
          <a:ln w="12700">
            <a:solidFill>
              <a:srgbClr val="DC6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566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B8BC"/>
                </a:solidFill>
              </a:rPr>
              <a:t>Plataforma genérica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13232" y="4096512"/>
            <a:ext cx="146304" cy="146304"/>
          </a:xfrm>
          <a:prstGeom prst="ellipse">
            <a:avLst/>
          </a:prstGeom>
          <a:solidFill>
            <a:srgbClr val="DC6A6A"/>
          </a:solidFill>
          <a:ln w="12700">
            <a:solidFill>
              <a:srgbClr val="DC6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023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B8BC"/>
                </a:solidFill>
              </a:rPr>
              <a:t>Dependência do fornecedor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13232" y="4553712"/>
            <a:ext cx="146304" cy="146304"/>
          </a:xfrm>
          <a:prstGeom prst="ellipse">
            <a:avLst/>
          </a:prstGeom>
          <a:solidFill>
            <a:srgbClr val="DC6A6A"/>
          </a:solidFill>
          <a:ln w="12700">
            <a:solidFill>
              <a:srgbClr val="DC6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480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B8BC"/>
                </a:solidFill>
              </a:rPr>
              <a:t>Marca da plataforma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13232" y="5010912"/>
            <a:ext cx="146304" cy="146304"/>
          </a:xfrm>
          <a:prstGeom prst="ellipse">
            <a:avLst/>
          </a:prstGeom>
          <a:solidFill>
            <a:srgbClr val="DC6A6A"/>
          </a:solidFill>
          <a:ln w="12700">
            <a:solidFill>
              <a:srgbClr val="DC6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B8BC"/>
                </a:solidFill>
              </a:rPr>
              <a:t>Regras de planos e limites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224528" y="3127248"/>
            <a:ext cx="1234440" cy="932688"/>
          </a:xfrm>
          <a:prstGeom prst="chevron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2128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VELLIA SOLAR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PRIVATE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833872" y="3182112"/>
            <a:ext cx="146304" cy="14630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31089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Pagamento único do projeto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833872" y="3639312"/>
            <a:ext cx="146304" cy="14630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35661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Personalizado para sua operação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833872" y="4096512"/>
            <a:ext cx="146304" cy="14630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40233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Sem mensalidade de licença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833872" y="4553712"/>
            <a:ext cx="146304" cy="14630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44805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Sua identidade visual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833872" y="5010912"/>
            <a:ext cx="146304" cy="14630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49377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Mais controle sobre a evolução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9372600" y="2267712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211A14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9488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AB66"/>
                </a:solidFill>
              </a:rPr>
              <a:t>SEU SISTEMA.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19488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5"/>
                </a:solidFill>
              </a:rPr>
              <a:t>SUA MARCA.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28048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AB66"/>
                </a:solidFill>
              </a:rPr>
              <a:t>SEUS CLIENTES.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528048" y="4681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7F5"/>
                </a:solidFill>
              </a:rPr>
              <a:t>SEM LICENÇA MENSAL.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3232" y="592531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B7D84"/>
                </a:solidFill>
              </a:rPr>
              <a:t>Custos externos como hospedagem, domínio, WhatsApp oficial, e-mail, banco de dados ou APIs podem existir conforme a arquitetura escolhida.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C98B46"/>
                </a:solidFill>
              </a:rPr>
              <a:t>BÔNUS ESTRATÉGICO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Site profissional da integradora incluso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8191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8BC"/>
                </a:solidFill>
              </a:rPr>
              <a:t>Presença digital preparada para apresentar serviços, gerar oportunidades e alimentar o CRM.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6995160" cy="3840480"/>
          </a:xfrm>
          <a:prstGeom prst="roundRect">
            <a:avLst>
              <a:gd name="adj" fmla="val 1667"/>
            </a:avLst>
          </a:prstGeom>
          <a:solidFill>
            <a:srgbClr val="F3F1ED"/>
          </a:solidFill>
          <a:ln w="8890">
            <a:solidFill>
              <a:srgbClr val="3B3D4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103120"/>
            <a:ext cx="6995160" cy="329184"/>
          </a:xfrm>
          <a:prstGeom prst="rect">
            <a:avLst/>
          </a:prstGeom>
          <a:solidFill>
            <a:srgbClr val="1A1B20"/>
          </a:solidFill>
          <a:ln w="12700">
            <a:solidFill>
              <a:srgbClr val="1A1B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212848"/>
            <a:ext cx="82296" cy="82296"/>
          </a:xfrm>
          <a:prstGeom prst="ellipse">
            <a:avLst/>
          </a:prstGeom>
          <a:solidFill>
            <a:srgbClr val="E56A6A"/>
          </a:solidFill>
          <a:ln w="12700">
            <a:solidFill>
              <a:srgbClr val="E56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2212848"/>
            <a:ext cx="82296" cy="82296"/>
          </a:xfrm>
          <a:prstGeom prst="ellipse">
            <a:avLst/>
          </a:prstGeom>
          <a:solidFill>
            <a:srgbClr val="E1B34E"/>
          </a:solidFill>
          <a:ln w="12700">
            <a:solidFill>
              <a:srgbClr val="E1B3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43584" y="2212848"/>
            <a:ext cx="82296" cy="82296"/>
          </a:xfrm>
          <a:prstGeom prst="ellipse">
            <a:avLst/>
          </a:prstGeom>
          <a:solidFill>
            <a:srgbClr val="62C476"/>
          </a:solidFill>
          <a:ln w="12700">
            <a:solidFill>
              <a:srgbClr val="62C4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2185416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D7D7D7"/>
                </a:solidFill>
              </a:rPr>
              <a:t>www.suaintegradorasolar.com.br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658368" y="2432304"/>
            <a:ext cx="6995160" cy="1481328"/>
          </a:xfrm>
          <a:prstGeom prst="rect">
            <a:avLst/>
          </a:prstGeom>
          <a:solidFill>
            <a:srgbClr val="11141A"/>
          </a:solidFill>
          <a:ln w="12700">
            <a:solidFill>
              <a:srgbClr val="111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72491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ENERGIA SOLAR PARA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7F7F5"/>
                </a:solidFill>
              </a:rPr>
              <a:t>ECONOMIZAR TODOS OS MESES.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78408" y="3429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8BC"/>
                </a:solidFill>
              </a:rPr>
              <a:t>Projetos residenciais e empresariais com atendimento consultivo.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10912" y="2852928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7216" y="3008376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50608"/>
                </a:solidFill>
              </a:rPr>
              <a:t>SOLICITAR PROPOSTA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914400" y="4251960"/>
            <a:ext cx="18745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889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46227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03238"/>
                </a:solidFill>
              </a:rPr>
              <a:t>RESIDENCIAL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078992" y="472744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86A6F"/>
                </a:solidFill>
              </a:rPr>
              <a:t>Redução da conta de energia.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3063240" y="4251960"/>
            <a:ext cx="18745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889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446227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03238"/>
                </a:solidFill>
              </a:rPr>
              <a:t>EMPRESARIAL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3227832" y="472744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86A6F"/>
                </a:solidFill>
              </a:rPr>
              <a:t>Projetos para comércio e indústria.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5212080" y="4251960"/>
            <a:ext cx="18745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889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446227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03238"/>
                </a:solidFill>
              </a:rPr>
              <a:t>ATENDIMENTO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5376672" y="472744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86A6F"/>
                </a:solidFill>
              </a:rPr>
              <a:t>Contato direto pelo WhatsApp.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8138160" y="2240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8B46"/>
                </a:solidFill>
              </a:rPr>
              <a:t>O BÔNUS ENTREGA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56448" y="2761488"/>
            <a:ext cx="164592" cy="164592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27432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Design responsivo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156448" y="3246120"/>
            <a:ext cx="164592" cy="164592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32278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Botões para WhatsApp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156448" y="3730752"/>
            <a:ext cx="164592" cy="164592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37124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Formulário de lead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156448" y="4215384"/>
            <a:ext cx="164592" cy="164592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4197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SEO técnico básico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8156448" y="4700016"/>
            <a:ext cx="164592" cy="164592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4681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Sua identidade visual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8156448" y="5184648"/>
            <a:ext cx="164592" cy="164592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51663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Integração com CRM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156448" y="5559552"/>
            <a:ext cx="2862072" cy="502920"/>
          </a:xfrm>
          <a:prstGeom prst="roundRect">
            <a:avLst>
              <a:gd name="adj" fmla="val 9091"/>
            </a:avLst>
          </a:prstGeom>
          <a:solidFill>
            <a:srgbClr val="15181E"/>
          </a:solidFill>
          <a:ln w="8890">
            <a:solidFill>
              <a:srgbClr val="2D30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9328" y="5715000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7B7D84"/>
                </a:solidFill>
              </a:rPr>
              <a:t>Domínio e hospedagem podem ser contratados em nome do cliente.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C98B46"/>
                </a:solidFill>
              </a:rPr>
              <a:t>INVESTIMENTO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Três níveis para diferentes estágios da operação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8191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8BC"/>
                </a:solidFill>
              </a:rPr>
              <a:t>Pagamento único do projeto. Sem mensalidade de licença do WebApp.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2084832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15181E"/>
          </a:solidFill>
          <a:ln w="10160">
            <a:solidFill>
              <a:srgbClr val="303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50592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7B8BC"/>
                </a:solidFill>
              </a:rPr>
              <a:t>SOLAR START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779776"/>
            <a:ext cx="2734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R$ 2.997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273552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7D84"/>
                </a:solidFill>
              </a:rPr>
              <a:t>pagamento único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2AB66"/>
                </a:solidFill>
              </a:rPr>
              <a:t>Para organizar a venda.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950976" y="4041648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396849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CRM essencial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50976" y="4352544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4279392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Leads e clientes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50976" y="4663440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4590288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Funil comercial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50976" y="4974336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4901184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Agenda e follow-up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50976" y="5285232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521208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Site profissional bônus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4400" y="5559552"/>
            <a:ext cx="2734056" cy="310896"/>
          </a:xfrm>
          <a:prstGeom prst="roundRect">
            <a:avLst>
              <a:gd name="adj" fmla="val 11765"/>
            </a:avLst>
          </a:prstGeom>
          <a:solidFill>
            <a:srgbClr val="23262D"/>
          </a:solidFill>
          <a:ln w="12700">
            <a:solidFill>
              <a:srgbClr val="3235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660136"/>
            <a:ext cx="2551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spc="80" kern="0" dirty="0">
                <a:solidFill>
                  <a:srgbClr val="F7F7F5"/>
                </a:solidFill>
              </a:rPr>
              <a:t>SEM MENSALIDADE DE LICENÇA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4462272" y="2084832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211A14"/>
          </a:solidFill>
          <a:ln w="20320">
            <a:solidFill>
              <a:srgbClr val="C98B4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02352" y="1901952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202996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110" kern="0" dirty="0">
                <a:solidFill>
                  <a:srgbClr val="050608"/>
                </a:solidFill>
              </a:rPr>
              <a:t>MAIS INDICADO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4718304" y="2450592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2AB66"/>
                </a:solidFill>
              </a:rPr>
              <a:t>SOLAR PRO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8304" y="2779776"/>
            <a:ext cx="2734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R$ 4.997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718304" y="3273552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7D84"/>
                </a:solidFill>
              </a:rPr>
              <a:t>pagamento único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718304" y="3611880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2AB66"/>
                </a:solidFill>
              </a:rPr>
              <a:t>A oferta principal.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754880" y="4041648"/>
            <a:ext cx="100584" cy="100584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96849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Tudo do Start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4352544"/>
            <a:ext cx="100584" cy="100584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279392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Propostas e relatórios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4663440"/>
            <a:ext cx="100584" cy="100584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590288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Gestão da equipe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4974336"/>
            <a:ext cx="100584" cy="100584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901184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Dashboard gerencial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5285232"/>
            <a:ext cx="100584" cy="100584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521208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Automações comerciais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5596128"/>
            <a:ext cx="100584" cy="100584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552297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Site profissional bônus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18304" y="5559552"/>
            <a:ext cx="2734056" cy="310896"/>
          </a:xfrm>
          <a:prstGeom prst="roundRect">
            <a:avLst>
              <a:gd name="adj" fmla="val 11765"/>
            </a:avLst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5660136"/>
            <a:ext cx="2551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spc="80" kern="0" dirty="0">
                <a:solidFill>
                  <a:srgbClr val="050608"/>
                </a:solidFill>
              </a:rPr>
              <a:t>SEM MENSALIDADE DE LICENÇA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8266176" y="2084832"/>
            <a:ext cx="3246120" cy="3977640"/>
          </a:xfrm>
          <a:prstGeom prst="roundRect">
            <a:avLst>
              <a:gd name="adj" fmla="val 2254"/>
            </a:avLst>
          </a:prstGeom>
          <a:solidFill>
            <a:srgbClr val="15181E"/>
          </a:solidFill>
          <a:ln w="10160">
            <a:solidFill>
              <a:srgbClr val="3033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22208" y="2450592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7B8BC"/>
                </a:solidFill>
              </a:rPr>
              <a:t>SOLAR PREMIUM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22208" y="2779776"/>
            <a:ext cx="2734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R$ 7.997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8522208" y="3273552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7D84"/>
                </a:solidFill>
              </a:rPr>
              <a:t>pagamento único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8522208" y="3611880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2AB66"/>
                </a:solidFill>
              </a:rPr>
              <a:t>Para automação avançada.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8558784" y="4041648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41664" y="396849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Tudo do Pro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558784" y="4352544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41664" y="4279392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Agente de IA*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558784" y="4663440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41664" y="4590288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Integrações avançadas*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558784" y="4974336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41664" y="4901184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Fluxos automáticos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558784" y="5285232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41664" y="521208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Implantação premium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558784" y="5596128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41664" y="552297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8BC"/>
                </a:solidFill>
              </a:rPr>
              <a:t>Site profissional bônus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522208" y="5559552"/>
            <a:ext cx="2734056" cy="310896"/>
          </a:xfrm>
          <a:prstGeom prst="roundRect">
            <a:avLst>
              <a:gd name="adj" fmla="val 11765"/>
            </a:avLst>
          </a:prstGeom>
          <a:solidFill>
            <a:srgbClr val="23262D"/>
          </a:solidFill>
          <a:ln w="12700">
            <a:solidFill>
              <a:srgbClr val="3235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13648" y="5660136"/>
            <a:ext cx="2551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spc="80" kern="0" dirty="0">
                <a:solidFill>
                  <a:srgbClr val="F7F7F5"/>
                </a:solidFill>
              </a:rPr>
              <a:t>SEM MENSALIDADE DE LICENÇA</a:t>
            </a:r>
            <a:endParaRPr lang="en-US" sz="640" dirty="0"/>
          </a:p>
        </p:txBody>
      </p:sp>
      <p:sp>
        <p:nvSpPr>
          <p:cNvPr id="62" name="Text 60"/>
          <p:cNvSpPr/>
          <p:nvPr/>
        </p:nvSpPr>
        <p:spPr>
          <a:xfrm>
            <a:off x="658368" y="6181344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B7D84"/>
                </a:solidFill>
              </a:rPr>
              <a:t>*IA e integrações podem depender de APIs ou serviços de terceiros com cobrança própria.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C98B46"/>
                </a:solidFill>
              </a:rPr>
              <a:t>LÓGICA FINANCEIRA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Trocar recorrência de licença por um ativo digital próprio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8191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8BC"/>
                </a:solidFill>
              </a:rPr>
              <a:t>O argumento não é ser o software mais barato: é mudar a lógica de investimento.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15181E"/>
          </a:solidFill>
          <a:ln w="10160">
            <a:solidFill>
              <a:srgbClr val="303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23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7B7D84"/>
                </a:solidFill>
              </a:rPr>
              <a:t>EXEMPLO ILUSTRATIVO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" y="2916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7F5"/>
                </a:solidFill>
              </a:rPr>
              <a:t>Software de R$ 397/mês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34747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2AB66"/>
                </a:solidFill>
              </a:rPr>
              <a:t>R$ 4.764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514600" y="36393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7B8BC"/>
                </a:solidFill>
              </a:rPr>
              <a:t>por ano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932688" y="416052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7F5"/>
                </a:solidFill>
              </a:rPr>
              <a:t>R$ 14.292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834640" y="4325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7B8BC"/>
                </a:solidFill>
              </a:rPr>
              <a:t>em 3 anos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941832" y="48828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7B7D84"/>
                </a:solidFill>
              </a:rPr>
              <a:t>...e a empresa continua usando uma licença de terceiros.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148072" y="3337560"/>
            <a:ext cx="960120" cy="841248"/>
          </a:xfrm>
          <a:prstGeom prst="chevron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5664" y="2240280"/>
            <a:ext cx="4709160" cy="3200400"/>
          </a:xfrm>
          <a:prstGeom prst="roundRect">
            <a:avLst>
              <a:gd name="adj" fmla="val 2286"/>
            </a:avLst>
          </a:prstGeom>
          <a:solidFill>
            <a:srgbClr val="211A14"/>
          </a:solidFill>
          <a:ln w="13970">
            <a:solidFill>
              <a:srgbClr val="C98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2615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2AB66"/>
                </a:solidFill>
              </a:rPr>
              <a:t>SOLAR PRO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39712" y="30723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7F5"/>
                </a:solidFill>
              </a:rPr>
              <a:t>R$ 4.997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0" y="3657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7D84"/>
                </a:solidFill>
              </a:rPr>
              <a:t>pagamento único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187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5"/>
                </a:solidFill>
              </a:rPr>
              <a:t>Sistema próprio + site profissional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46451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AB66"/>
                </a:solidFill>
              </a:rPr>
              <a:t>Sem mensalidade de licença do WebApp.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5687568"/>
            <a:ext cx="6903720" cy="530352"/>
          </a:xfrm>
          <a:prstGeom prst="roundRect">
            <a:avLst>
              <a:gd name="adj" fmla="val 8621"/>
            </a:avLst>
          </a:prstGeom>
          <a:solidFill>
            <a:srgbClr val="050608"/>
          </a:solidFill>
          <a:ln w="8890">
            <a:solidFill>
              <a:srgbClr val="2D30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0944" y="58521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7F5"/>
                </a:solidFill>
              </a:rPr>
              <a:t>“Pare de pagar mensalidade por um sistema que nunca será seu.”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C98B46"/>
                </a:solidFill>
              </a:rPr>
              <a:t>IMPLANTAÇÃO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Como o projeto é entregue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8191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8BC"/>
                </a:solidFill>
              </a:rPr>
              <a:t>Um processo claro reduz retrabalho e garante aderência à operação real da integradora.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15181E"/>
          </a:solidFill>
          <a:ln w="8890">
            <a:solidFill>
              <a:srgbClr val="292C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441448"/>
            <a:ext cx="384048" cy="384048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4203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0608"/>
                </a:solidFill>
              </a:rPr>
              <a:t>01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399032" y="2441448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7F7F5"/>
                </a:solidFill>
              </a:rPr>
              <a:t>Diagnóstico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1399032" y="2770632"/>
            <a:ext cx="2313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7B8BC"/>
                </a:solidFill>
              </a:rPr>
              <a:t>Processo, equipe e necessidades.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398264" y="2240280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15181E"/>
          </a:solidFill>
          <a:ln w="8890">
            <a:solidFill>
              <a:srgbClr val="292C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441448"/>
            <a:ext cx="384048" cy="384048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54203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0608"/>
                </a:solidFill>
              </a:rPr>
              <a:t>02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111496" y="2441448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7F7F5"/>
                </a:solidFill>
              </a:rPr>
              <a:t>Personalização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5111496" y="2770632"/>
            <a:ext cx="2313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7B8BC"/>
                </a:solidFill>
              </a:rPr>
              <a:t>Identidade, campos e pipeline.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110728" y="2240280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15181E"/>
          </a:solidFill>
          <a:ln w="8890">
            <a:solidFill>
              <a:srgbClr val="292C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11896" y="2441448"/>
            <a:ext cx="384048" cy="384048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254203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0608"/>
                </a:solidFill>
              </a:rPr>
              <a:t>03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823960" y="2441448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7F7F5"/>
                </a:solidFill>
              </a:rPr>
              <a:t>Configuração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8823960" y="2770632"/>
            <a:ext cx="2313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7B8BC"/>
                </a:solidFill>
              </a:rPr>
              <a:t>Módulos, permissões e automações.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85800" y="3730752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15181E"/>
          </a:solidFill>
          <a:ln w="8890">
            <a:solidFill>
              <a:srgbClr val="292C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" y="3931920"/>
            <a:ext cx="384048" cy="384048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032504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0608"/>
                </a:solidFill>
              </a:rPr>
              <a:t>04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399032" y="393192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7F7F5"/>
                </a:solidFill>
              </a:rPr>
              <a:t>Validação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1399032" y="4261104"/>
            <a:ext cx="2313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7B8BC"/>
                </a:solidFill>
              </a:rPr>
              <a:t>Testes e ajustes finais.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398264" y="3730752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15181E"/>
          </a:solidFill>
          <a:ln w="8890">
            <a:solidFill>
              <a:srgbClr val="292C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9432" y="3931920"/>
            <a:ext cx="384048" cy="384048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4032504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0608"/>
                </a:solidFill>
              </a:rPr>
              <a:t>05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111496" y="393192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7F7F5"/>
                </a:solidFill>
              </a:rPr>
              <a:t>Publicação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5111496" y="4261104"/>
            <a:ext cx="2313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7B8BC"/>
                </a:solidFill>
              </a:rPr>
              <a:t>WebApp e site disponibilizados.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8110728" y="3730752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15181E"/>
          </a:solidFill>
          <a:ln w="8890">
            <a:solidFill>
              <a:srgbClr val="292C3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11896" y="3931920"/>
            <a:ext cx="384048" cy="384048"/>
          </a:xfrm>
          <a:prstGeom prst="ellipse">
            <a:avLst/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1896" y="4032504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0608"/>
                </a:solidFill>
              </a:rPr>
              <a:t>06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8823960" y="393192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7F7F5"/>
                </a:solidFill>
              </a:rPr>
              <a:t>Treinamento</a:t>
            </a:r>
            <a:endParaRPr lang="en-US" sz="1140" dirty="0"/>
          </a:p>
        </p:txBody>
      </p:sp>
      <p:sp>
        <p:nvSpPr>
          <p:cNvPr id="34" name="Text 32"/>
          <p:cNvSpPr/>
          <p:nvPr/>
        </p:nvSpPr>
        <p:spPr>
          <a:xfrm>
            <a:off x="8823960" y="4261104"/>
            <a:ext cx="2313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7B8BC"/>
                </a:solidFill>
              </a:rPr>
              <a:t>Orientação para equipe e administração.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85800" y="5440680"/>
            <a:ext cx="10671048" cy="658368"/>
          </a:xfrm>
          <a:prstGeom prst="roundRect">
            <a:avLst>
              <a:gd name="adj" fmla="val 6944"/>
            </a:avLst>
          </a:prstGeom>
          <a:solidFill>
            <a:srgbClr val="211A14"/>
          </a:solidFill>
          <a:ln w="10160">
            <a:solidFill>
              <a:srgbClr val="3A2A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56418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E2AB66"/>
                </a:solidFill>
              </a:rPr>
              <a:t>RESULTADO ESPERADO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395728" y="5605272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7F5"/>
                </a:solidFill>
              </a:rPr>
              <a:t>Uma ferramenta simples de operar, com visão centralizada das oportunidades e base preparada para evoluir.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092440" y="5934456"/>
            <a:ext cx="3017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7B7D84"/>
                </a:solidFill>
              </a:rPr>
              <a:t>Prazos são definidos após briefing e fechamento do escopo.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C98B46"/>
                </a:solidFill>
              </a:rPr>
              <a:t>GO-TO-MARKET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5"/>
                </a:solidFill>
              </a:rPr>
              <a:t>Uma oferta desenhada para chamar atenção e abrir conversa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8191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8BC"/>
                </a:solidFill>
              </a:rPr>
              <a:t>Anúncios, landing page, WhatsApp e abordagem comercial podem repetir a mesma promessa central.</a:t>
            </a:r>
            <a:endParaRPr lang="en-US" sz="1050" dirty="0"/>
          </a:p>
        </p:txBody>
      </p:sp>
      <p:pic>
        <p:nvPicPr>
          <p:cNvPr id="5" name="Image 0" descr="/mnt/data/POST FEED VEELUEN (32).png">    </p:cNvPr>
          <p:cNvPicPr>
            <a:picLocks noChangeAspect="1"/>
          </p:cNvPicPr>
          <p:nvPr/>
        </p:nvPicPr>
        <p:blipFill>
          <a:blip r:embed="rId1"/>
          <a:srcRect l="7000" r="-5652" t="5000" b="20000"/>
          <a:stretch/>
        </p:blipFill>
        <p:spPr>
          <a:xfrm>
            <a:off x="658368" y="2048256"/>
            <a:ext cx="4251960" cy="4041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85232" y="2048256"/>
            <a:ext cx="5980176" cy="2029968"/>
          </a:xfrm>
          <a:prstGeom prst="roundRect">
            <a:avLst>
              <a:gd name="adj" fmla="val 3604"/>
            </a:avLst>
          </a:prstGeom>
          <a:solidFill>
            <a:srgbClr val="111318"/>
          </a:solidFill>
          <a:ln w="10160">
            <a:solidFill>
              <a:srgbClr val="2C2F3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24048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2AB66"/>
                </a:solidFill>
              </a:rPr>
              <a:t>INTEGRADOR SOLAR: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23560" y="2798064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7F5"/>
                </a:solidFill>
              </a:rPr>
              <a:t>PARE DE ALUGAR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7F7F5"/>
                </a:solidFill>
              </a:rPr>
              <a:t>SOFTWARE.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623560" y="366674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B7B8BC"/>
                </a:solidFill>
              </a:rPr>
              <a:t>Tenha seu próprio CRM comercial + site profissional.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5285232" y="4315968"/>
            <a:ext cx="5980176" cy="1773936"/>
          </a:xfrm>
          <a:prstGeom prst="roundRect">
            <a:avLst>
              <a:gd name="adj" fmla="val 4124"/>
            </a:avLst>
          </a:prstGeom>
          <a:solidFill>
            <a:srgbClr val="211A14"/>
          </a:solidFill>
          <a:ln w="10160">
            <a:solidFill>
              <a:srgbClr val="3B2B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23560" y="4645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C98B46"/>
                </a:solidFill>
              </a:rPr>
              <a:t>HEADLINE ALTERNATIVA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5623560" y="5029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7F5"/>
                </a:solidFill>
              </a:rPr>
              <a:t>“Lead solar é caro demais para ser esquecido no WhatsApp.”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623560" y="565099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B7B8BC"/>
                </a:solidFill>
              </a:rPr>
              <a:t>Abra pela dor comercial. Depois apresente propriedade, economia e controle.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5669280" cy="5669280"/>
          </a:xfrm>
          <a:prstGeom prst="ellipse">
            <a:avLst/>
          </a:prstGeom>
          <a:solidFill>
            <a:srgbClr val="663717">
              <a:alpha val="52000"/>
            </a:srgbClr>
          </a:solidFill>
          <a:ln w="12700">
            <a:solidFill>
              <a:srgbClr val="6637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C98B46"/>
                </a:solidFill>
              </a:rPr>
              <a:t>VELLIA SOLAR PRIVATE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5166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7F5"/>
                </a:solidFill>
              </a:rPr>
              <a:t>Transforme tecnologia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7F5"/>
                </a:solidFill>
              </a:rPr>
              <a:t>em um ativo da sua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7F5"/>
                </a:solidFill>
              </a:rPr>
              <a:t>integradora.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4107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7B8BC"/>
                </a:solidFill>
              </a:rPr>
              <a:t>Sistema comercial próprio, identidade personalizada, organização do processo de vendas e site profissional de bônus.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053328" y="1207008"/>
            <a:ext cx="5138928" cy="3474720"/>
          </a:xfrm>
          <a:prstGeom prst="roundRect">
            <a:avLst>
              <a:gd name="adj" fmla="val 2632"/>
            </a:avLst>
          </a:prstGeom>
          <a:solidFill>
            <a:srgbClr val="13161B"/>
          </a:solidFill>
          <a:ln w="10160">
            <a:solidFill>
              <a:srgbClr val="31343B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28232" y="16002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0" kern="0" dirty="0">
                <a:solidFill>
                  <a:srgbClr val="C98B46"/>
                </a:solidFill>
              </a:rPr>
              <a:t>OFERTA PRINCIPAL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28232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7F5"/>
                </a:solidFill>
              </a:rPr>
              <a:t>SOLAR PRO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28232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AB66"/>
                </a:solidFill>
              </a:rPr>
              <a:t>R$ 4.997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55664" y="3154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8BC"/>
                </a:solidFill>
              </a:rPr>
              <a:t>Pagamento único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55664" y="3675888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36118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7F7F5"/>
                </a:solidFill>
              </a:rPr>
              <a:t>Sem mensalidade de licença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455664" y="4005072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3941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7F7F5"/>
                </a:solidFill>
              </a:rPr>
              <a:t>Site profissional incluso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455664" y="4334256"/>
            <a:ext cx="100584" cy="100584"/>
          </a:xfrm>
          <a:prstGeom prst="ellipse">
            <a:avLst/>
          </a:prstGeom>
          <a:solidFill>
            <a:srgbClr val="39B980"/>
          </a:solidFill>
          <a:ln w="12700">
            <a:solidFill>
              <a:srgbClr val="39B9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4270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7F7F5"/>
                </a:solidFill>
              </a:rPr>
              <a:t>Personalização da operação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76656" y="4754880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C98B46"/>
          </a:solidFill>
          <a:ln w="12700">
            <a:solidFill>
              <a:srgbClr val="C98B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983480"/>
            <a:ext cx="4279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70" kern="0" dirty="0">
                <a:solidFill>
                  <a:srgbClr val="050608"/>
                </a:solidFill>
              </a:rPr>
              <a:t>PRÓXIMO PASSO: BRIEFING + DEMONSTRAÇÃO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85800" y="592531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F7F7F5"/>
                </a:solidFill>
              </a:rPr>
              <a:t>SEU SISTEMA. SUA MARCA. SEUS CLIENTES.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590702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B7D84"/>
                </a:solidFill>
              </a:rPr>
              <a:t>Proposta conceitual. Escopo técnico, prazos, condições de pagamento e responsabilidades devem constar no contrato comercial definitivo.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6F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Veeluen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Vellia Solar Private</dc:title>
  <dc:subject>Vellia Solar Private - Proposta Comercial</dc:subject>
  <dc:creator>Veeluen Solutions</dc:creator>
  <cp:lastModifiedBy>Veeluen Solutions</cp:lastModifiedBy>
  <cp:revision>1</cp:revision>
  <dcterms:created xsi:type="dcterms:W3CDTF">2026-09-22T13:56:23Z</dcterms:created>
  <dcterms:modified xsi:type="dcterms:W3CDTF">2026-09-22T13:56:23Z</dcterms:modified>
</cp:coreProperties>
</file>